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overarching goal of the presentation: Qatar Tourism 2026. Highlight the ambition to establish Qatar as a premier destination for diverse global travelers. Emphasize the importance of strategic insights and actionable recommendations to achieve this vision. Transition to the agenda slide by noting that the presentation will first focus on key trends and market dynamics before diving into strategic growth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flow of the presentation. Explain that the session will begin with demographic trends, followed by an analysis of the market's two main segments, and conclude with growth strategies. Stress that each section builds on the previous one to deliver a cohesive roadmap for achieving Qatar Tourism 2026 objectives. Transition to the next slide by introducing demographic trends as the foundation of the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demographic composition of Qatar's visitors in 2023. Emphasize the dominance of GCC visitors at 45% and the rapid growth of European tourists at 12% annually. Explain that while the GCC remains a key market, the growth in European visitors signals a significant opportunity for diversification and high-value tourism. Transition to the next slide by stating that we will now delve into the behavioral and economic impact of these visitor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Qatar’s two main visitor segments: business and leisure travelers. Highlight that business travelers represent 35% of visitors, with high spending but shorter stays, while leisure tourists dominate at 60%, staying longer and coming mainly from Europe. Stress the importance of tailoring marketing and offerings to each segment's distinct needs. Transition to the next slide by noting that strategic recommendations will build on these insights to drive targeted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actionable recommendations to capitalize on growth opportunities. Emphasize the need to focus on European markets with targeted campaigns and to enhance luxury offerings to attract high-spending tourists. Highlight the importance of leveraging Qatar’s unique assets to stand out in a competitive landscape. Transition to the closing slide by noting that aligning resources with these priorities is crucial for achieving 2026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slide reinforces the importance of aligning resources with the insights and strategies discussed. Summarize the key priorities: focusing on European markets, enhancing luxury offerings, and leveraging unique assets. Encourage the leadership team to commit to the next steps, including resource alignment and a detailed implementation plan. End by reaffirming confidence in achieving Qatar Tourism 2026 goals. Transition by inviting questions or opening the floor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B82F6"/>
          </a:solidFill>
          <a:ln/>
        </p:spPr>
      </p:sp>
      <p:sp>
        <p:nvSpPr>
          <p:cNvPr id="3" name="Text 1"/>
          <p:cNvSpPr/>
          <p:nvPr/>
        </p:nvSpPr>
        <p:spPr>
          <a:xfrm>
            <a:off x="137160" y="4887468"/>
            <a:ext cx="914400" cy="201168"/>
          </a:xfrm>
          <a:prstGeom prst="rect">
            <a:avLst/>
          </a:prstGeom>
          <a:noFill/>
          <a:ln/>
        </p:spPr>
        <p:txBody>
          <a:bodyPr wrap="square" rtlCol="0" anchor="ctr"/>
          <a:lstStyle/>
          <a:p>
            <a:pPr algn="l" indent="0" marL="0">
              <a:buNone/>
            </a:pPr>
            <a:r>
              <a:rPr lang="en-US" sz="600" dirty="0">
                <a:solidFill>
                  <a:srgbClr val="94A3B8"/>
                </a:solidFill>
              </a:rPr>
              <a:t>1 / 6</a:t>
            </a:r>
            <a:endParaRPr lang="en-US" sz="600" dirty="0"/>
          </a:p>
        </p:txBody>
      </p:sp>
      <p:sp>
        <p:nvSpPr>
          <p:cNvPr id="4" name="Text 2"/>
          <p:cNvSpPr/>
          <p:nvPr/>
        </p:nvSpPr>
        <p:spPr>
          <a:xfrm>
            <a:off x="7772400" y="4887468"/>
            <a:ext cx="1280160" cy="201168"/>
          </a:xfrm>
          <a:prstGeom prst="rect">
            <a:avLst/>
          </a:prstGeom>
          <a:noFill/>
          <a:ln/>
        </p:spPr>
        <p:txBody>
          <a:bodyPr wrap="square" rtlCol="0" anchor="ctr"/>
          <a:lstStyle/>
          <a:p>
            <a:pPr algn="r" indent="0" marL="0">
              <a:buNone/>
            </a:pPr>
            <a:r>
              <a:rPr lang="en-US" sz="600" spc="200" kern="0" dirty="0">
                <a:solidFill>
                  <a:srgbClr val="94A3B8"/>
                </a:solidFill>
              </a:rPr>
              <a:t>PERFORMO AI</a:t>
            </a:r>
            <a:endParaRPr lang="en-US" sz="600" dirty="0"/>
          </a:p>
        </p:txBody>
      </p:sp>
      <p:sp>
        <p:nvSpPr>
          <p:cNvPr id="5" name="Shape 3"/>
          <p:cNvSpPr/>
          <p:nvPr/>
        </p:nvSpPr>
        <p:spPr>
          <a:xfrm>
            <a:off x="6583680" y="-457200"/>
            <a:ext cx="3200400" cy="3200400"/>
          </a:xfrm>
          <a:prstGeom prst="ellipse">
            <a:avLst/>
          </a:prstGeom>
          <a:solidFill>
            <a:srgbClr val="3B82F6"/>
          </a:solidFill>
          <a:ln/>
        </p:spPr>
      </p:sp>
      <p:sp>
        <p:nvSpPr>
          <p:cNvPr id="6" name="Text 4"/>
          <p:cNvSpPr/>
          <p:nvPr/>
        </p:nvSpPr>
        <p:spPr>
          <a:xfrm>
            <a:off x="457200" y="1005840"/>
            <a:ext cx="5943600" cy="320040"/>
          </a:xfrm>
          <a:prstGeom prst="rect">
            <a:avLst/>
          </a:prstGeom>
          <a:noFill/>
          <a:ln/>
        </p:spPr>
        <p:txBody>
          <a:bodyPr wrap="square" rtlCol="0" anchor="ctr"/>
          <a:lstStyle/>
          <a:p>
            <a:pPr indent="0" marL="0">
              <a:buNone/>
            </a:pPr>
            <a:r>
              <a:rPr lang="en-US" sz="900" b="1" spc="400" kern="0" dirty="0">
                <a:solidFill>
                  <a:srgbClr val="3B82F6"/>
                </a:solidFill>
              </a:rPr>
              <a:t>A bold vision to position Qatar as a global tourism hub by 2026.</a:t>
            </a:r>
            <a:endParaRPr lang="en-US" sz="900" dirty="0"/>
          </a:p>
        </p:txBody>
      </p:sp>
      <p:sp>
        <p:nvSpPr>
          <p:cNvPr id="7" name="Text 5"/>
          <p:cNvSpPr/>
          <p:nvPr/>
        </p:nvSpPr>
        <p:spPr>
          <a:xfrm>
            <a:off x="457200" y="1389888"/>
            <a:ext cx="6400800" cy="1920240"/>
          </a:xfrm>
          <a:prstGeom prst="rect">
            <a:avLst/>
          </a:prstGeom>
          <a:noFill/>
          <a:ln/>
        </p:spPr>
        <p:txBody>
          <a:bodyPr wrap="square" rtlCol="0" anchor="ctr"/>
          <a:lstStyle/>
          <a:p>
            <a:pPr indent="0" marL="0">
              <a:buNone/>
            </a:pPr>
            <a:r>
              <a:rPr lang="en-US" sz="3200" b="1" dirty="0">
                <a:solidFill>
                  <a:srgbClr val="0F172A"/>
                </a:solidFill>
              </a:rPr>
              <a:t>Qatar Tourism 2026</a:t>
            </a:r>
            <a:endParaRPr lang="en-US" sz="3200" dirty="0"/>
          </a:p>
        </p:txBody>
      </p:sp>
      <p:sp>
        <p:nvSpPr>
          <p:cNvPr id="8" name="Text 6"/>
          <p:cNvSpPr/>
          <p:nvPr/>
        </p:nvSpPr>
        <p:spPr>
          <a:xfrm>
            <a:off x="457200" y="3429000"/>
            <a:ext cx="5486400" cy="822960"/>
          </a:xfrm>
          <a:prstGeom prst="rect">
            <a:avLst/>
          </a:prstGeom>
          <a:noFill/>
          <a:ln/>
        </p:spPr>
        <p:txBody>
          <a:bodyPr wrap="square" rtlCol="0" anchor="ctr"/>
          <a:lstStyle/>
          <a:p>
            <a:pPr indent="0" marL="0">
              <a:buNone/>
            </a:pPr>
            <a:r>
              <a:rPr lang="en-US" sz="1400" dirty="0">
                <a:solidFill>
                  <a:srgbClr val="475569"/>
                </a:solidFill>
              </a:rPr>
              <a:t>Executive overview of Qatar's strategic tourism goals for 2026, focusing on growth, market insights, and actionable strategies.</a:t>
            </a:r>
            <a:endParaRPr lang="en-US" sz="1400" dirty="0"/>
          </a:p>
        </p:txBody>
      </p:sp>
      <p:sp>
        <p:nvSpPr>
          <p:cNvPr id="9" name="Shape 7"/>
          <p:cNvSpPr/>
          <p:nvPr/>
        </p:nvSpPr>
        <p:spPr>
          <a:xfrm>
            <a:off x="457200" y="4754880"/>
            <a:ext cx="8503920" cy="0"/>
          </a:xfrm>
          <a:prstGeom prst="line">
            <a:avLst/>
          </a:prstGeom>
          <a:noFill/>
          <a:ln w="12700">
            <a:solidFill>
              <a:srgbClr val="3B82F6">
                <a:alpha val="3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B82F6"/>
          </a:solidFill>
          <a:ln/>
        </p:spPr>
      </p:sp>
      <p:sp>
        <p:nvSpPr>
          <p:cNvPr id="3" name="Text 1"/>
          <p:cNvSpPr/>
          <p:nvPr/>
        </p:nvSpPr>
        <p:spPr>
          <a:xfrm>
            <a:off x="137160" y="4887468"/>
            <a:ext cx="914400" cy="201168"/>
          </a:xfrm>
          <a:prstGeom prst="rect">
            <a:avLst/>
          </a:prstGeom>
          <a:noFill/>
          <a:ln/>
        </p:spPr>
        <p:txBody>
          <a:bodyPr wrap="square" rtlCol="0" anchor="ctr"/>
          <a:lstStyle/>
          <a:p>
            <a:pPr algn="l" indent="0" marL="0">
              <a:buNone/>
            </a:pPr>
            <a:r>
              <a:rPr lang="en-US" sz="600" dirty="0">
                <a:solidFill>
                  <a:srgbClr val="94A3B8"/>
                </a:solidFill>
              </a:rPr>
              <a:t>2 / 6</a:t>
            </a:r>
            <a:endParaRPr lang="en-US" sz="600" dirty="0"/>
          </a:p>
        </p:txBody>
      </p:sp>
      <p:sp>
        <p:nvSpPr>
          <p:cNvPr id="4" name="Text 2"/>
          <p:cNvSpPr/>
          <p:nvPr/>
        </p:nvSpPr>
        <p:spPr>
          <a:xfrm>
            <a:off x="7772400" y="4887468"/>
            <a:ext cx="1280160" cy="201168"/>
          </a:xfrm>
          <a:prstGeom prst="rect">
            <a:avLst/>
          </a:prstGeom>
          <a:noFill/>
          <a:ln/>
        </p:spPr>
        <p:txBody>
          <a:bodyPr wrap="square" rtlCol="0" anchor="ctr"/>
          <a:lstStyle/>
          <a:p>
            <a:pPr algn="r" indent="0" marL="0">
              <a:buNone/>
            </a:pPr>
            <a:r>
              <a:rPr lang="en-US" sz="600" spc="200" kern="0" dirty="0">
                <a:solidFill>
                  <a:srgbClr val="94A3B8"/>
                </a:solidFill>
              </a:rPr>
              <a:t>PERFORMO AI</a:t>
            </a:r>
            <a:endParaRPr lang="en-US" sz="600" dirty="0"/>
          </a:p>
        </p:txBody>
      </p:sp>
      <p:sp>
        <p:nvSpPr>
          <p:cNvPr id="5" name="Text 3"/>
          <p:cNvSpPr/>
          <p:nvPr/>
        </p:nvSpPr>
        <p:spPr>
          <a:xfrm>
            <a:off x="457200" y="201168"/>
            <a:ext cx="8229600" cy="274320"/>
          </a:xfrm>
          <a:prstGeom prst="rect">
            <a:avLst/>
          </a:prstGeom>
          <a:noFill/>
          <a:ln/>
        </p:spPr>
        <p:txBody>
          <a:bodyPr wrap="square" rtlCol="0" anchor="ctr"/>
          <a:lstStyle/>
          <a:p>
            <a:pPr indent="0" marL="0">
              <a:buNone/>
            </a:pPr>
            <a:r>
              <a:rPr lang="en-US" sz="800" b="1" spc="500" kern="0" dirty="0">
                <a:solidFill>
                  <a:srgbClr val="3B82F6"/>
                </a:solidFill>
              </a:rPr>
              <a:t>AGENDA</a:t>
            </a:r>
            <a:endParaRPr lang="en-US" sz="800" dirty="0"/>
          </a:p>
        </p:txBody>
      </p:sp>
      <p:sp>
        <p:nvSpPr>
          <p:cNvPr id="6" name="Text 4"/>
          <p:cNvSpPr/>
          <p:nvPr/>
        </p:nvSpPr>
        <p:spPr>
          <a:xfrm>
            <a:off x="457200" y="502920"/>
            <a:ext cx="8229600" cy="548640"/>
          </a:xfrm>
          <a:prstGeom prst="rect">
            <a:avLst/>
          </a:prstGeom>
          <a:noFill/>
          <a:ln/>
        </p:spPr>
        <p:txBody>
          <a:bodyPr wrap="square" rtlCol="0" anchor="ctr"/>
          <a:lstStyle/>
          <a:p>
            <a:pPr indent="0" marL="0">
              <a:buNone/>
            </a:pPr>
            <a:r>
              <a:rPr lang="en-US" sz="2000" b="1" dirty="0">
                <a:solidFill>
                  <a:srgbClr val="0F172A"/>
                </a:solidFill>
              </a:rPr>
              <a:t>Agenda</a:t>
            </a:r>
            <a:endParaRPr lang="en-US" sz="2000" dirty="0"/>
          </a:p>
        </p:txBody>
      </p:sp>
      <p:sp>
        <p:nvSpPr>
          <p:cNvPr id="7" name="Shape 5"/>
          <p:cNvSpPr/>
          <p:nvPr/>
        </p:nvSpPr>
        <p:spPr>
          <a:xfrm>
            <a:off x="457200" y="1188720"/>
            <a:ext cx="8412480" cy="512064"/>
          </a:xfrm>
          <a:prstGeom prst="rect">
            <a:avLst/>
          </a:prstGeom>
          <a:solidFill>
            <a:srgbClr val="F1F5F9"/>
          </a:solidFill>
          <a:ln w="12700">
            <a:solidFill>
              <a:srgbClr val="E2E8F0"/>
            </a:solidFill>
            <a:prstDash val="solid"/>
          </a:ln>
        </p:spPr>
      </p:sp>
      <p:sp>
        <p:nvSpPr>
          <p:cNvPr id="8" name="Text 6"/>
          <p:cNvSpPr/>
          <p:nvPr/>
        </p:nvSpPr>
        <p:spPr>
          <a:xfrm>
            <a:off x="640080" y="1225296"/>
            <a:ext cx="8046720" cy="438912"/>
          </a:xfrm>
          <a:prstGeom prst="rect">
            <a:avLst/>
          </a:prstGeom>
          <a:noFill/>
          <a:ln/>
        </p:spPr>
        <p:txBody>
          <a:bodyPr wrap="square" rtlCol="0" anchor="ctr"/>
          <a:lstStyle/>
          <a:p>
            <a:pPr indent="0" marL="0">
              <a:buNone/>
            </a:pPr>
            <a:r>
              <a:rPr lang="en-US" sz="1100" dirty="0">
                <a:solidFill>
                  <a:srgbClr val="475569"/>
                </a:solidFill>
              </a:rPr>
              <a:t>01   Demographic Trends in Qatar Tourism: Understand key visitor trends, including growth in GCC and European markets.</a:t>
            </a:r>
            <a:endParaRPr lang="en-US" sz="1100" dirty="0"/>
          </a:p>
        </p:txBody>
      </p:sp>
      <p:sp>
        <p:nvSpPr>
          <p:cNvPr id="9" name="Shape 7"/>
          <p:cNvSpPr/>
          <p:nvPr/>
        </p:nvSpPr>
        <p:spPr>
          <a:xfrm>
            <a:off x="457200" y="1737360"/>
            <a:ext cx="8412480" cy="512064"/>
          </a:xfrm>
          <a:prstGeom prst="rect">
            <a:avLst/>
          </a:prstGeom>
          <a:solidFill>
            <a:srgbClr val="F1F5F9"/>
          </a:solidFill>
          <a:ln w="12700">
            <a:solidFill>
              <a:srgbClr val="E2E8F0"/>
            </a:solidFill>
            <a:prstDash val="solid"/>
          </a:ln>
        </p:spPr>
      </p:sp>
      <p:sp>
        <p:nvSpPr>
          <p:cNvPr id="10" name="Text 8"/>
          <p:cNvSpPr/>
          <p:nvPr/>
        </p:nvSpPr>
        <p:spPr>
          <a:xfrm>
            <a:off x="640080" y="1773936"/>
            <a:ext cx="8046720" cy="438912"/>
          </a:xfrm>
          <a:prstGeom prst="rect">
            <a:avLst/>
          </a:prstGeom>
          <a:noFill/>
          <a:ln/>
        </p:spPr>
        <p:txBody>
          <a:bodyPr wrap="square" rtlCol="0" anchor="ctr"/>
          <a:lstStyle/>
          <a:p>
            <a:pPr indent="0" marL="0">
              <a:buNone/>
            </a:pPr>
            <a:r>
              <a:rPr lang="en-US" sz="1100" dirty="0">
                <a:solidFill>
                  <a:srgbClr val="475569"/>
                </a:solidFill>
              </a:rPr>
              <a:t>02   Market Segmentation Analysis: Explore the behaviors and contributions of business and leisure travelers.</a:t>
            </a:r>
            <a:endParaRPr lang="en-US" sz="1100" dirty="0"/>
          </a:p>
        </p:txBody>
      </p:sp>
      <p:sp>
        <p:nvSpPr>
          <p:cNvPr id="11" name="Shape 9"/>
          <p:cNvSpPr/>
          <p:nvPr/>
        </p:nvSpPr>
        <p:spPr>
          <a:xfrm>
            <a:off x="457200" y="2286000"/>
            <a:ext cx="8412480" cy="512064"/>
          </a:xfrm>
          <a:prstGeom prst="rect">
            <a:avLst/>
          </a:prstGeom>
          <a:solidFill>
            <a:srgbClr val="F1F5F9"/>
          </a:solidFill>
          <a:ln w="12700">
            <a:solidFill>
              <a:srgbClr val="E2E8F0"/>
            </a:solidFill>
            <a:prstDash val="solid"/>
          </a:ln>
        </p:spPr>
      </p:sp>
      <p:sp>
        <p:nvSpPr>
          <p:cNvPr id="12" name="Text 10"/>
          <p:cNvSpPr/>
          <p:nvPr/>
        </p:nvSpPr>
        <p:spPr>
          <a:xfrm>
            <a:off x="640080" y="2322576"/>
            <a:ext cx="8046720" cy="438912"/>
          </a:xfrm>
          <a:prstGeom prst="rect">
            <a:avLst/>
          </a:prstGeom>
          <a:noFill/>
          <a:ln/>
        </p:spPr>
        <p:txBody>
          <a:bodyPr wrap="square" rtlCol="0" anchor="ctr"/>
          <a:lstStyle/>
          <a:p>
            <a:pPr indent="0" marL="0">
              <a:buNone/>
            </a:pPr>
            <a:r>
              <a:rPr lang="en-US" sz="1100" dirty="0">
                <a:solidFill>
                  <a:srgbClr val="475569"/>
                </a:solidFill>
              </a:rPr>
              <a:t>03   Strategic Recommendations for Growth: Actionable priorities to achieve Qatar Tourism 2026 goals.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B82F6"/>
          </a:solidFill>
          <a:ln/>
        </p:spPr>
      </p:sp>
      <p:sp>
        <p:nvSpPr>
          <p:cNvPr id="3" name="Text 1"/>
          <p:cNvSpPr/>
          <p:nvPr/>
        </p:nvSpPr>
        <p:spPr>
          <a:xfrm>
            <a:off x="137160" y="4887468"/>
            <a:ext cx="914400" cy="201168"/>
          </a:xfrm>
          <a:prstGeom prst="rect">
            <a:avLst/>
          </a:prstGeom>
          <a:noFill/>
          <a:ln/>
        </p:spPr>
        <p:txBody>
          <a:bodyPr wrap="square" rtlCol="0" anchor="ctr"/>
          <a:lstStyle/>
          <a:p>
            <a:pPr algn="l" indent="0" marL="0">
              <a:buNone/>
            </a:pPr>
            <a:r>
              <a:rPr lang="en-US" sz="600" dirty="0">
                <a:solidFill>
                  <a:srgbClr val="94A3B8"/>
                </a:solidFill>
              </a:rPr>
              <a:t>3 / 6</a:t>
            </a:r>
            <a:endParaRPr lang="en-US" sz="600" dirty="0"/>
          </a:p>
        </p:txBody>
      </p:sp>
      <p:sp>
        <p:nvSpPr>
          <p:cNvPr id="4" name="Text 2"/>
          <p:cNvSpPr/>
          <p:nvPr/>
        </p:nvSpPr>
        <p:spPr>
          <a:xfrm>
            <a:off x="7772400" y="4887468"/>
            <a:ext cx="1280160" cy="201168"/>
          </a:xfrm>
          <a:prstGeom prst="rect">
            <a:avLst/>
          </a:prstGeom>
          <a:noFill/>
          <a:ln/>
        </p:spPr>
        <p:txBody>
          <a:bodyPr wrap="square" rtlCol="0" anchor="ctr"/>
          <a:lstStyle/>
          <a:p>
            <a:pPr algn="r" indent="0" marL="0">
              <a:buNone/>
            </a:pPr>
            <a:r>
              <a:rPr lang="en-US" sz="600" spc="200" kern="0" dirty="0">
                <a:solidFill>
                  <a:srgbClr val="94A3B8"/>
                </a:solidFill>
              </a:rPr>
              <a:t>PERFORMO AI</a:t>
            </a:r>
            <a:endParaRPr lang="en-US" sz="600" dirty="0"/>
          </a:p>
        </p:txBody>
      </p:sp>
      <p:sp>
        <p:nvSpPr>
          <p:cNvPr id="5" name="Shape 3"/>
          <p:cNvSpPr/>
          <p:nvPr/>
        </p:nvSpPr>
        <p:spPr>
          <a:xfrm>
            <a:off x="0" y="0"/>
            <a:ext cx="9144000" cy="530352"/>
          </a:xfrm>
          <a:prstGeom prst="rect">
            <a:avLst/>
          </a:prstGeom>
          <a:solidFill>
            <a:srgbClr val="F1F5F9"/>
          </a:solidFill>
          <a:ln/>
        </p:spPr>
      </p:sp>
      <p:sp>
        <p:nvSpPr>
          <p:cNvPr id="6" name="Text 4"/>
          <p:cNvSpPr/>
          <p:nvPr/>
        </p:nvSpPr>
        <p:spPr>
          <a:xfrm>
            <a:off x="457200" y="82296"/>
            <a:ext cx="8503920" cy="384048"/>
          </a:xfrm>
          <a:prstGeom prst="rect">
            <a:avLst/>
          </a:prstGeom>
          <a:noFill/>
          <a:ln/>
        </p:spPr>
        <p:txBody>
          <a:bodyPr wrap="square" rtlCol="0" anchor="ctr"/>
          <a:lstStyle/>
          <a:p>
            <a:pPr indent="0" marL="0">
              <a:buNone/>
            </a:pPr>
            <a:r>
              <a:rPr lang="en-US" sz="1800" b="1" dirty="0">
                <a:solidFill>
                  <a:srgbClr val="0F172A"/>
                </a:solidFill>
              </a:rPr>
              <a:t>Demographic Trends in Qatar Tourism</a:t>
            </a:r>
            <a:endParaRPr lang="en-US" sz="1800" dirty="0"/>
          </a:p>
        </p:txBody>
      </p:sp>
      <p:sp>
        <p:nvSpPr>
          <p:cNvPr id="7" name="Shape 5"/>
          <p:cNvSpPr/>
          <p:nvPr/>
        </p:nvSpPr>
        <p:spPr>
          <a:xfrm>
            <a:off x="365760" y="640080"/>
            <a:ext cx="4137660" cy="1737360"/>
          </a:xfrm>
          <a:prstGeom prst="rect">
            <a:avLst/>
          </a:prstGeom>
          <a:solidFill>
            <a:srgbClr val="F1F5F9"/>
          </a:solidFill>
          <a:ln w="12700">
            <a:solidFill>
              <a:srgbClr val="E2E8F0"/>
            </a:solidFill>
            <a:prstDash val="solid"/>
          </a:ln>
        </p:spPr>
      </p:sp>
      <p:sp>
        <p:nvSpPr>
          <p:cNvPr id="8" name="Shape 6"/>
          <p:cNvSpPr/>
          <p:nvPr/>
        </p:nvSpPr>
        <p:spPr>
          <a:xfrm>
            <a:off x="365760" y="640080"/>
            <a:ext cx="4137660" cy="50292"/>
          </a:xfrm>
          <a:prstGeom prst="rect">
            <a:avLst/>
          </a:prstGeom>
          <a:solidFill>
            <a:srgbClr val="22C55E"/>
          </a:solidFill>
          <a:ln/>
        </p:spPr>
      </p:sp>
      <p:sp>
        <p:nvSpPr>
          <p:cNvPr id="9" name="Text 7"/>
          <p:cNvSpPr/>
          <p:nvPr/>
        </p:nvSpPr>
        <p:spPr>
          <a:xfrm>
            <a:off x="475488" y="768096"/>
            <a:ext cx="3918204" cy="713232"/>
          </a:xfrm>
          <a:prstGeom prst="rect">
            <a:avLst/>
          </a:prstGeom>
          <a:noFill/>
          <a:ln/>
        </p:spPr>
        <p:txBody>
          <a:bodyPr wrap="square" rtlCol="0" anchor="ctr"/>
          <a:lstStyle/>
          <a:p>
            <a:pPr indent="0" marL="0">
              <a:buNone/>
            </a:pPr>
            <a:r>
              <a:rPr lang="en-US" sz="2600" b="1" dirty="0">
                <a:solidFill>
                  <a:srgbClr val="3B82F6"/>
                </a:solidFill>
              </a:rPr>
              <a:t>45%</a:t>
            </a:r>
            <a:endParaRPr lang="en-US" sz="2600" dirty="0"/>
          </a:p>
        </p:txBody>
      </p:sp>
      <p:sp>
        <p:nvSpPr>
          <p:cNvPr id="10" name="Text 8"/>
          <p:cNvSpPr/>
          <p:nvPr/>
        </p:nvSpPr>
        <p:spPr>
          <a:xfrm>
            <a:off x="475488" y="1517904"/>
            <a:ext cx="3918204" cy="365760"/>
          </a:xfrm>
          <a:prstGeom prst="rect">
            <a:avLst/>
          </a:prstGeom>
          <a:noFill/>
          <a:ln/>
        </p:spPr>
        <p:txBody>
          <a:bodyPr wrap="square" rtlCol="0" anchor="ctr"/>
          <a:lstStyle/>
          <a:p>
            <a:pPr indent="0" marL="0">
              <a:buNone/>
            </a:pPr>
            <a:r>
              <a:rPr lang="en-US" sz="900" dirty="0">
                <a:solidFill>
                  <a:srgbClr val="475569"/>
                </a:solidFill>
              </a:rPr>
              <a:t>Visitors from GCC countries</a:t>
            </a:r>
            <a:endParaRPr lang="en-US" sz="900" dirty="0"/>
          </a:p>
        </p:txBody>
      </p:sp>
      <p:sp>
        <p:nvSpPr>
          <p:cNvPr id="11" name="Text 9"/>
          <p:cNvSpPr/>
          <p:nvPr/>
        </p:nvSpPr>
        <p:spPr>
          <a:xfrm>
            <a:off x="475488" y="1956816"/>
            <a:ext cx="3918204" cy="274320"/>
          </a:xfrm>
          <a:prstGeom prst="rect">
            <a:avLst/>
          </a:prstGeom>
          <a:noFill/>
          <a:ln/>
        </p:spPr>
        <p:txBody>
          <a:bodyPr wrap="square" rtlCol="0" anchor="ctr"/>
          <a:lstStyle/>
          <a:p>
            <a:pPr indent="0" marL="0">
              <a:buNone/>
            </a:pPr>
            <a:r>
              <a:rPr lang="en-US" sz="800" b="1" dirty="0">
                <a:solidFill>
                  <a:srgbClr val="EF4444"/>
                </a:solidFill>
              </a:rPr>
              <a:t>Flat YoY</a:t>
            </a:r>
            <a:endParaRPr lang="en-US" sz="800" dirty="0"/>
          </a:p>
        </p:txBody>
      </p:sp>
      <p:sp>
        <p:nvSpPr>
          <p:cNvPr id="12" name="Shape 10"/>
          <p:cNvSpPr/>
          <p:nvPr/>
        </p:nvSpPr>
        <p:spPr>
          <a:xfrm>
            <a:off x="4640580" y="640080"/>
            <a:ext cx="4137660" cy="1737360"/>
          </a:xfrm>
          <a:prstGeom prst="rect">
            <a:avLst/>
          </a:prstGeom>
          <a:solidFill>
            <a:srgbClr val="F1F5F9"/>
          </a:solidFill>
          <a:ln w="12700">
            <a:solidFill>
              <a:srgbClr val="E2E8F0"/>
            </a:solidFill>
            <a:prstDash val="solid"/>
          </a:ln>
        </p:spPr>
      </p:sp>
      <p:sp>
        <p:nvSpPr>
          <p:cNvPr id="13" name="Shape 11"/>
          <p:cNvSpPr/>
          <p:nvPr/>
        </p:nvSpPr>
        <p:spPr>
          <a:xfrm>
            <a:off x="4640580" y="640080"/>
            <a:ext cx="4137660" cy="50292"/>
          </a:xfrm>
          <a:prstGeom prst="rect">
            <a:avLst/>
          </a:prstGeom>
          <a:solidFill>
            <a:srgbClr val="22C55E"/>
          </a:solidFill>
          <a:ln/>
        </p:spPr>
      </p:sp>
      <p:sp>
        <p:nvSpPr>
          <p:cNvPr id="14" name="Text 12"/>
          <p:cNvSpPr/>
          <p:nvPr/>
        </p:nvSpPr>
        <p:spPr>
          <a:xfrm>
            <a:off x="4750308" y="768096"/>
            <a:ext cx="3918204" cy="713232"/>
          </a:xfrm>
          <a:prstGeom prst="rect">
            <a:avLst/>
          </a:prstGeom>
          <a:noFill/>
          <a:ln/>
        </p:spPr>
        <p:txBody>
          <a:bodyPr wrap="square" rtlCol="0" anchor="ctr"/>
          <a:lstStyle/>
          <a:p>
            <a:pPr indent="0" marL="0">
              <a:buNone/>
            </a:pPr>
            <a:r>
              <a:rPr lang="en-US" sz="2600" b="1" dirty="0">
                <a:solidFill>
                  <a:srgbClr val="3B82F6"/>
                </a:solidFill>
              </a:rPr>
              <a:t>12%</a:t>
            </a:r>
            <a:endParaRPr lang="en-US" sz="2600" dirty="0"/>
          </a:p>
        </p:txBody>
      </p:sp>
      <p:sp>
        <p:nvSpPr>
          <p:cNvPr id="15" name="Text 13"/>
          <p:cNvSpPr/>
          <p:nvPr/>
        </p:nvSpPr>
        <p:spPr>
          <a:xfrm>
            <a:off x="4750308" y="1517904"/>
            <a:ext cx="3918204" cy="365760"/>
          </a:xfrm>
          <a:prstGeom prst="rect">
            <a:avLst/>
          </a:prstGeom>
          <a:noFill/>
          <a:ln/>
        </p:spPr>
        <p:txBody>
          <a:bodyPr wrap="square" rtlCol="0" anchor="ctr"/>
          <a:lstStyle/>
          <a:p>
            <a:pPr indent="0" marL="0">
              <a:buNone/>
            </a:pPr>
            <a:r>
              <a:rPr lang="en-US" sz="900" dirty="0">
                <a:solidFill>
                  <a:srgbClr val="475569"/>
                </a:solidFill>
              </a:rPr>
              <a:t>Growth in European tourists</a:t>
            </a:r>
            <a:endParaRPr lang="en-US" sz="900" dirty="0"/>
          </a:p>
        </p:txBody>
      </p:sp>
      <p:sp>
        <p:nvSpPr>
          <p:cNvPr id="16" name="Text 14"/>
          <p:cNvSpPr/>
          <p:nvPr/>
        </p:nvSpPr>
        <p:spPr>
          <a:xfrm>
            <a:off x="4750308" y="1956816"/>
            <a:ext cx="3918204" cy="274320"/>
          </a:xfrm>
          <a:prstGeom prst="rect">
            <a:avLst/>
          </a:prstGeom>
          <a:noFill/>
          <a:ln/>
        </p:spPr>
        <p:txBody>
          <a:bodyPr wrap="square" rtlCol="0" anchor="ctr"/>
          <a:lstStyle/>
          <a:p>
            <a:pPr indent="0" marL="0">
              <a:buNone/>
            </a:pPr>
            <a:r>
              <a:rPr lang="en-US" sz="800" b="1" dirty="0">
                <a:solidFill>
                  <a:srgbClr val="22C55E"/>
                </a:solidFill>
              </a:rPr>
              <a:t>+12% YoY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B82F6"/>
          </a:solidFill>
          <a:ln/>
        </p:spPr>
      </p:sp>
      <p:sp>
        <p:nvSpPr>
          <p:cNvPr id="3" name="Text 1"/>
          <p:cNvSpPr/>
          <p:nvPr/>
        </p:nvSpPr>
        <p:spPr>
          <a:xfrm>
            <a:off x="137160" y="4887468"/>
            <a:ext cx="914400" cy="201168"/>
          </a:xfrm>
          <a:prstGeom prst="rect">
            <a:avLst/>
          </a:prstGeom>
          <a:noFill/>
          <a:ln/>
        </p:spPr>
        <p:txBody>
          <a:bodyPr wrap="square" rtlCol="0" anchor="ctr"/>
          <a:lstStyle/>
          <a:p>
            <a:pPr algn="l" indent="0" marL="0">
              <a:buNone/>
            </a:pPr>
            <a:r>
              <a:rPr lang="en-US" sz="600" dirty="0">
                <a:solidFill>
                  <a:srgbClr val="94A3B8"/>
                </a:solidFill>
              </a:rPr>
              <a:t>4 / 6</a:t>
            </a:r>
            <a:endParaRPr lang="en-US" sz="600" dirty="0"/>
          </a:p>
        </p:txBody>
      </p:sp>
      <p:sp>
        <p:nvSpPr>
          <p:cNvPr id="4" name="Text 2"/>
          <p:cNvSpPr/>
          <p:nvPr/>
        </p:nvSpPr>
        <p:spPr>
          <a:xfrm>
            <a:off x="7772400" y="4887468"/>
            <a:ext cx="1280160" cy="201168"/>
          </a:xfrm>
          <a:prstGeom prst="rect">
            <a:avLst/>
          </a:prstGeom>
          <a:noFill/>
          <a:ln/>
        </p:spPr>
        <p:txBody>
          <a:bodyPr wrap="square" rtlCol="0" anchor="ctr"/>
          <a:lstStyle/>
          <a:p>
            <a:pPr algn="r" indent="0" marL="0">
              <a:buNone/>
            </a:pPr>
            <a:r>
              <a:rPr lang="en-US" sz="600" spc="200" kern="0" dirty="0">
                <a:solidFill>
                  <a:srgbClr val="94A3B8"/>
                </a:solidFill>
              </a:rPr>
              <a:t>PERFORMO AI</a:t>
            </a:r>
            <a:endParaRPr lang="en-US" sz="600" dirty="0"/>
          </a:p>
        </p:txBody>
      </p:sp>
      <p:sp>
        <p:nvSpPr>
          <p:cNvPr id="5" name="Shape 3"/>
          <p:cNvSpPr/>
          <p:nvPr/>
        </p:nvSpPr>
        <p:spPr>
          <a:xfrm>
            <a:off x="0" y="0"/>
            <a:ext cx="9144000" cy="566928"/>
          </a:xfrm>
          <a:prstGeom prst="rect">
            <a:avLst/>
          </a:prstGeom>
          <a:solidFill>
            <a:srgbClr val="F1F5F9"/>
          </a:solidFill>
          <a:ln/>
        </p:spPr>
      </p:sp>
      <p:sp>
        <p:nvSpPr>
          <p:cNvPr id="6" name="Text 4"/>
          <p:cNvSpPr/>
          <p:nvPr/>
        </p:nvSpPr>
        <p:spPr>
          <a:xfrm>
            <a:off x="457200" y="91440"/>
            <a:ext cx="8503920" cy="402336"/>
          </a:xfrm>
          <a:prstGeom prst="rect">
            <a:avLst/>
          </a:prstGeom>
          <a:noFill/>
          <a:ln/>
        </p:spPr>
        <p:txBody>
          <a:bodyPr wrap="square" rtlCol="0" anchor="ctr"/>
          <a:lstStyle/>
          <a:p>
            <a:pPr indent="0" marL="0">
              <a:buNone/>
            </a:pPr>
            <a:r>
              <a:rPr lang="en-US" sz="1800" b="1" dirty="0">
                <a:solidFill>
                  <a:srgbClr val="0F172A"/>
                </a:solidFill>
              </a:rPr>
              <a:t>Market Segmentation Analysis</a:t>
            </a:r>
            <a:endParaRPr lang="en-US" sz="1800" dirty="0"/>
          </a:p>
        </p:txBody>
      </p:sp>
      <p:sp>
        <p:nvSpPr>
          <p:cNvPr id="7" name="Text 5"/>
          <p:cNvSpPr/>
          <p:nvPr/>
        </p:nvSpPr>
        <p:spPr>
          <a:xfrm>
            <a:off x="548640" y="685800"/>
            <a:ext cx="8321040" cy="4137660"/>
          </a:xfrm>
          <a:prstGeom prst="rect">
            <a:avLst/>
          </a:prstGeom>
          <a:noFill/>
          <a:ln/>
        </p:spPr>
        <p:txBody>
          <a:bodyPr wrap="square" rtlCol="0" anchor="ctr"/>
          <a:lstStyle/>
          <a:p>
            <a:pPr marL="342900" indent="-342900">
              <a:spcAft>
                <a:spcPts val="500"/>
              </a:spcAft>
              <a:buSzPct val="100000"/>
              <a:buChar char="•"/>
            </a:pPr>
            <a:r>
              <a:rPr lang="en-US" sz="1300" dirty="0">
                <a:solidFill>
                  <a:srgbClr val="475569"/>
                </a:solidFill>
              </a:rPr>
              <a:t>Business travelers drive higher spending but shorter stays, primarily from the UAE and Saudi Arabia.</a:t>
            </a:r>
            <a:endParaRPr lang="en-US" sz="1300" dirty="0"/>
          </a:p>
          <a:p>
            <a:pPr marL="342900" indent="-342900">
              <a:spcAft>
                <a:spcPts val="500"/>
              </a:spcAft>
              <a:buSzPct val="100000"/>
              <a:buChar char="•"/>
            </a:pPr>
            <a:r>
              <a:rPr lang="en-US" sz="1300" dirty="0">
                <a:solidFill>
                  <a:srgbClr val="475569"/>
                </a:solidFill>
              </a:rPr>
              <a:t>Leisure tourists contribute extended stays, with top sources being Germany and the UK.</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B82F6"/>
          </a:solidFill>
          <a:ln/>
        </p:spPr>
      </p:sp>
      <p:sp>
        <p:nvSpPr>
          <p:cNvPr id="3" name="Text 1"/>
          <p:cNvSpPr/>
          <p:nvPr/>
        </p:nvSpPr>
        <p:spPr>
          <a:xfrm>
            <a:off x="137160" y="4887468"/>
            <a:ext cx="914400" cy="201168"/>
          </a:xfrm>
          <a:prstGeom prst="rect">
            <a:avLst/>
          </a:prstGeom>
          <a:noFill/>
          <a:ln/>
        </p:spPr>
        <p:txBody>
          <a:bodyPr wrap="square" rtlCol="0" anchor="ctr"/>
          <a:lstStyle/>
          <a:p>
            <a:pPr algn="l" indent="0" marL="0">
              <a:buNone/>
            </a:pPr>
            <a:r>
              <a:rPr lang="en-US" sz="600" dirty="0">
                <a:solidFill>
                  <a:srgbClr val="94A3B8"/>
                </a:solidFill>
              </a:rPr>
              <a:t>5 / 6</a:t>
            </a:r>
            <a:endParaRPr lang="en-US" sz="600" dirty="0"/>
          </a:p>
        </p:txBody>
      </p:sp>
      <p:sp>
        <p:nvSpPr>
          <p:cNvPr id="4" name="Text 2"/>
          <p:cNvSpPr/>
          <p:nvPr/>
        </p:nvSpPr>
        <p:spPr>
          <a:xfrm>
            <a:off x="7772400" y="4887468"/>
            <a:ext cx="1280160" cy="201168"/>
          </a:xfrm>
          <a:prstGeom prst="rect">
            <a:avLst/>
          </a:prstGeom>
          <a:noFill/>
          <a:ln/>
        </p:spPr>
        <p:txBody>
          <a:bodyPr wrap="square" rtlCol="0" anchor="ctr"/>
          <a:lstStyle/>
          <a:p>
            <a:pPr algn="r" indent="0" marL="0">
              <a:buNone/>
            </a:pPr>
            <a:r>
              <a:rPr lang="en-US" sz="600" spc="200" kern="0" dirty="0">
                <a:solidFill>
                  <a:srgbClr val="94A3B8"/>
                </a:solidFill>
              </a:rPr>
              <a:t>PERFORMO AI</a:t>
            </a:r>
            <a:endParaRPr lang="en-US" sz="600" dirty="0"/>
          </a:p>
        </p:txBody>
      </p:sp>
      <p:sp>
        <p:nvSpPr>
          <p:cNvPr id="5" name="Shape 3"/>
          <p:cNvSpPr/>
          <p:nvPr/>
        </p:nvSpPr>
        <p:spPr>
          <a:xfrm>
            <a:off x="0" y="0"/>
            <a:ext cx="9144000" cy="566928"/>
          </a:xfrm>
          <a:prstGeom prst="rect">
            <a:avLst/>
          </a:prstGeom>
          <a:solidFill>
            <a:srgbClr val="F1F5F9"/>
          </a:solidFill>
          <a:ln/>
        </p:spPr>
      </p:sp>
      <p:sp>
        <p:nvSpPr>
          <p:cNvPr id="6" name="Text 4"/>
          <p:cNvSpPr/>
          <p:nvPr/>
        </p:nvSpPr>
        <p:spPr>
          <a:xfrm>
            <a:off x="457200" y="91440"/>
            <a:ext cx="8503920" cy="402336"/>
          </a:xfrm>
          <a:prstGeom prst="rect">
            <a:avLst/>
          </a:prstGeom>
          <a:noFill/>
          <a:ln/>
        </p:spPr>
        <p:txBody>
          <a:bodyPr wrap="square" rtlCol="0" anchor="ctr"/>
          <a:lstStyle/>
          <a:p>
            <a:pPr indent="0" marL="0">
              <a:buNone/>
            </a:pPr>
            <a:r>
              <a:rPr lang="en-US" sz="1800" b="1" dirty="0">
                <a:solidFill>
                  <a:srgbClr val="0F172A"/>
                </a:solidFill>
              </a:rPr>
              <a:t>Strategic Recommendations for Growth</a:t>
            </a:r>
            <a:endParaRPr lang="en-US" sz="1800" dirty="0"/>
          </a:p>
        </p:txBody>
      </p:sp>
      <p:sp>
        <p:nvSpPr>
          <p:cNvPr id="7" name="Text 5"/>
          <p:cNvSpPr/>
          <p:nvPr/>
        </p:nvSpPr>
        <p:spPr>
          <a:xfrm>
            <a:off x="457200" y="566928"/>
            <a:ext cx="8503920" cy="329184"/>
          </a:xfrm>
          <a:prstGeom prst="rect">
            <a:avLst/>
          </a:prstGeom>
          <a:noFill/>
          <a:ln/>
        </p:spPr>
        <p:txBody>
          <a:bodyPr wrap="square" rtlCol="0" anchor="ctr"/>
          <a:lstStyle/>
          <a:p>
            <a:pPr indent="0" marL="0">
              <a:buNone/>
            </a:pPr>
            <a:r>
              <a:rPr lang="en-US" sz="1000" b="1" dirty="0">
                <a:solidFill>
                  <a:srgbClr val="3B82F6"/>
                </a:solidFill>
              </a:rPr>
              <a:t>Focus on European markets and luxury offerings to maximize growth potential.</a:t>
            </a:r>
            <a:endParaRPr lang="en-US" sz="1000" dirty="0"/>
          </a:p>
        </p:txBody>
      </p:sp>
      <p:sp>
        <p:nvSpPr>
          <p:cNvPr id="8" name="Text 6"/>
          <p:cNvSpPr/>
          <p:nvPr/>
        </p:nvSpPr>
        <p:spPr>
          <a:xfrm>
            <a:off x="548640" y="932688"/>
            <a:ext cx="8321040" cy="384048"/>
          </a:xfrm>
          <a:prstGeom prst="rect">
            <a:avLst/>
          </a:prstGeom>
          <a:noFill/>
          <a:ln/>
        </p:spPr>
        <p:txBody>
          <a:bodyPr wrap="square" rtlCol="0" anchor="ctr"/>
          <a:lstStyle/>
          <a:p>
            <a:pPr indent="0" marL="0">
              <a:buNone/>
            </a:pPr>
            <a:r>
              <a:rPr lang="en-US" sz="950" i="1" dirty="0">
                <a:solidFill>
                  <a:srgbClr val="475569"/>
                </a:solidFill>
              </a:rPr>
              <a:t>To achieve Qatar Tourism 2026 goals, the strategy must focus on high-growth and high-value opportunities. European tourists represent a rapidly growing segment with significant spending potential. Luxury offerings, including high-end accommodations and unique experiences, will attract discerning travelers. Enhancing marketing efforts in Europe and elevating luxury brand positioning will position Qatar as a premier destination for affluent global tourists.</a:t>
            </a:r>
            <a:endParaRPr lang="en-US" sz="950" dirty="0"/>
          </a:p>
        </p:txBody>
      </p:sp>
      <p:sp>
        <p:nvSpPr>
          <p:cNvPr id="9" name="Text 7"/>
          <p:cNvSpPr/>
          <p:nvPr/>
        </p:nvSpPr>
        <p:spPr>
          <a:xfrm>
            <a:off x="548640" y="1353312"/>
            <a:ext cx="8321040" cy="3515868"/>
          </a:xfrm>
          <a:prstGeom prst="rect">
            <a:avLst/>
          </a:prstGeom>
          <a:noFill/>
          <a:ln/>
        </p:spPr>
        <p:txBody>
          <a:bodyPr wrap="square" rtlCol="0" anchor="ctr"/>
          <a:lstStyle/>
          <a:p>
            <a:pPr marL="342900" indent="-342900">
              <a:spcAft>
                <a:spcPts val="500"/>
              </a:spcAft>
              <a:buSzPct val="100000"/>
              <a:buChar char="•"/>
            </a:pPr>
            <a:r>
              <a:rPr lang="en-US" sz="1150" dirty="0">
                <a:solidFill>
                  <a:srgbClr val="475569"/>
                </a:solidFill>
              </a:rPr>
              <a:t>Invest in targeted marketing campaigns across key European markets to sustain 12% annual growth.</a:t>
            </a:r>
            <a:endParaRPr lang="en-US" sz="1150" dirty="0"/>
          </a:p>
          <a:p>
            <a:pPr marL="342900" indent="-342900">
              <a:spcAft>
                <a:spcPts val="500"/>
              </a:spcAft>
              <a:buSzPct val="100000"/>
              <a:buChar char="•"/>
            </a:pPr>
            <a:r>
              <a:rPr lang="en-US" sz="1150" dirty="0">
                <a:solidFill>
                  <a:srgbClr val="475569"/>
                </a:solidFill>
              </a:rPr>
              <a:t>Expand and enhance luxury offerings to appeal to high-spending leisure travelers.</a:t>
            </a:r>
            <a:endParaRPr lang="en-US" sz="1150" dirty="0"/>
          </a:p>
          <a:p>
            <a:pPr marL="342900" indent="-342900">
              <a:spcAft>
                <a:spcPts val="500"/>
              </a:spcAft>
              <a:buSzPct val="100000"/>
              <a:buChar char="•"/>
            </a:pPr>
            <a:r>
              <a:rPr lang="en-US" sz="1150" dirty="0">
                <a:solidFill>
                  <a:srgbClr val="475569"/>
                </a:solidFill>
              </a:rPr>
              <a:t>Leverage Qatar’s unique cultural and sporting assets to differentiate in a competitive market.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B82F6"/>
          </a:solidFill>
          <a:ln/>
        </p:spPr>
      </p:sp>
      <p:sp>
        <p:nvSpPr>
          <p:cNvPr id="3" name="Text 1"/>
          <p:cNvSpPr/>
          <p:nvPr/>
        </p:nvSpPr>
        <p:spPr>
          <a:xfrm>
            <a:off x="137160" y="4887468"/>
            <a:ext cx="914400" cy="201168"/>
          </a:xfrm>
          <a:prstGeom prst="rect">
            <a:avLst/>
          </a:prstGeom>
          <a:noFill/>
          <a:ln/>
        </p:spPr>
        <p:txBody>
          <a:bodyPr wrap="square" rtlCol="0" anchor="ctr"/>
          <a:lstStyle/>
          <a:p>
            <a:pPr algn="l" indent="0" marL="0">
              <a:buNone/>
            </a:pPr>
            <a:r>
              <a:rPr lang="en-US" sz="600" dirty="0">
                <a:solidFill>
                  <a:srgbClr val="94A3B8"/>
                </a:solidFill>
              </a:rPr>
              <a:t>6 / 6</a:t>
            </a:r>
            <a:endParaRPr lang="en-US" sz="600" dirty="0"/>
          </a:p>
        </p:txBody>
      </p:sp>
      <p:sp>
        <p:nvSpPr>
          <p:cNvPr id="4" name="Text 2"/>
          <p:cNvSpPr/>
          <p:nvPr/>
        </p:nvSpPr>
        <p:spPr>
          <a:xfrm>
            <a:off x="7772400" y="4887468"/>
            <a:ext cx="1280160" cy="201168"/>
          </a:xfrm>
          <a:prstGeom prst="rect">
            <a:avLst/>
          </a:prstGeom>
          <a:noFill/>
          <a:ln/>
        </p:spPr>
        <p:txBody>
          <a:bodyPr wrap="square" rtlCol="0" anchor="ctr"/>
          <a:lstStyle/>
          <a:p>
            <a:pPr algn="r" indent="0" marL="0">
              <a:buNone/>
            </a:pPr>
            <a:r>
              <a:rPr lang="en-US" sz="600" spc="200" kern="0" dirty="0">
                <a:solidFill>
                  <a:srgbClr val="94A3B8"/>
                </a:solidFill>
              </a:rPr>
              <a:t>PERFORMO AI</a:t>
            </a:r>
            <a:endParaRPr lang="en-US" sz="600" dirty="0"/>
          </a:p>
        </p:txBody>
      </p:sp>
      <p:sp>
        <p:nvSpPr>
          <p:cNvPr id="5" name="Shape 3"/>
          <p:cNvSpPr/>
          <p:nvPr/>
        </p:nvSpPr>
        <p:spPr>
          <a:xfrm>
            <a:off x="1645920" y="365760"/>
            <a:ext cx="5852160" cy="4572000"/>
          </a:xfrm>
          <a:prstGeom prst="ellipse">
            <a:avLst/>
          </a:prstGeom>
          <a:solidFill>
            <a:srgbClr val="3B82F6"/>
          </a:solidFill>
          <a:ln/>
        </p:spPr>
      </p:sp>
      <p:sp>
        <p:nvSpPr>
          <p:cNvPr id="6" name="Shape 4"/>
          <p:cNvSpPr/>
          <p:nvPr/>
        </p:nvSpPr>
        <p:spPr>
          <a:xfrm>
            <a:off x="457200" y="201168"/>
            <a:ext cx="8503920" cy="0"/>
          </a:xfrm>
          <a:prstGeom prst="line">
            <a:avLst/>
          </a:prstGeom>
          <a:noFill/>
          <a:ln w="12700">
            <a:solidFill>
              <a:srgbClr val="3B82F6">
                <a:alpha val="28000"/>
              </a:srgbClr>
            </a:solidFill>
            <a:prstDash val="solid"/>
          </a:ln>
        </p:spPr>
      </p:sp>
      <p:sp>
        <p:nvSpPr>
          <p:cNvPr id="7" name="Text 5"/>
          <p:cNvSpPr/>
          <p:nvPr/>
        </p:nvSpPr>
        <p:spPr>
          <a:xfrm>
            <a:off x="457200" y="1097280"/>
            <a:ext cx="8229600" cy="1463040"/>
          </a:xfrm>
          <a:prstGeom prst="rect">
            <a:avLst/>
          </a:prstGeom>
          <a:noFill/>
          <a:ln/>
        </p:spPr>
        <p:txBody>
          <a:bodyPr wrap="square" rtlCol="0" anchor="ctr"/>
          <a:lstStyle/>
          <a:p>
            <a:pPr algn="ctr" indent="0" marL="0">
              <a:buNone/>
            </a:pPr>
            <a:r>
              <a:rPr lang="en-US" sz="2800" b="1" dirty="0">
                <a:solidFill>
                  <a:srgbClr val="0F172A"/>
                </a:solidFill>
              </a:rPr>
              <a:t>Closing Remarks</a:t>
            </a:r>
            <a:endParaRPr lang="en-US" sz="2800" dirty="0"/>
          </a:p>
        </p:txBody>
      </p:sp>
      <p:sp>
        <p:nvSpPr>
          <p:cNvPr id="8" name="Text 6"/>
          <p:cNvSpPr/>
          <p:nvPr/>
        </p:nvSpPr>
        <p:spPr>
          <a:xfrm>
            <a:off x="457200" y="2651760"/>
            <a:ext cx="8229600" cy="548640"/>
          </a:xfrm>
          <a:prstGeom prst="rect">
            <a:avLst/>
          </a:prstGeom>
          <a:noFill/>
          <a:ln/>
        </p:spPr>
        <p:txBody>
          <a:bodyPr wrap="square" rtlCol="0" anchor="ctr"/>
          <a:lstStyle/>
          <a:p>
            <a:pPr algn="ctr" indent="0" marL="0">
              <a:buNone/>
            </a:pPr>
            <a:r>
              <a:rPr lang="en-US" sz="1400" dirty="0">
                <a:solidFill>
                  <a:srgbClr val="475569"/>
                </a:solidFill>
              </a:rPr>
              <a:t>Align resources with demographic insights and strategic priorities to achieve Qatar Tourism 2026 goals.</a:t>
            </a:r>
            <a:endParaRPr lang="en-US" sz="1400" dirty="0"/>
          </a:p>
        </p:txBody>
      </p:sp>
      <p:sp>
        <p:nvSpPr>
          <p:cNvPr id="9" name="Shape 7"/>
          <p:cNvSpPr/>
          <p:nvPr/>
        </p:nvSpPr>
        <p:spPr>
          <a:xfrm>
            <a:off x="2926080" y="3337560"/>
            <a:ext cx="3291840" cy="548640"/>
          </a:xfrm>
          <a:prstGeom prst="rect">
            <a:avLst/>
          </a:prstGeom>
          <a:solidFill>
            <a:srgbClr val="3B82F6"/>
          </a:solidFill>
          <a:ln/>
        </p:spPr>
      </p:sp>
      <p:sp>
        <p:nvSpPr>
          <p:cNvPr id="10" name="Text 8"/>
          <p:cNvSpPr/>
          <p:nvPr/>
        </p:nvSpPr>
        <p:spPr>
          <a:xfrm>
            <a:off x="2926080" y="3346704"/>
            <a:ext cx="3291840" cy="530352"/>
          </a:xfrm>
          <a:prstGeom prst="rect">
            <a:avLst/>
          </a:prstGeom>
          <a:noFill/>
          <a:ln/>
        </p:spPr>
        <p:txBody>
          <a:bodyPr wrap="square" rtlCol="0" anchor="ctr"/>
          <a:lstStyle/>
          <a:p>
            <a:pPr algn="ctr" indent="0" marL="0">
              <a:buNone/>
            </a:pPr>
            <a:r>
              <a:rPr lang="en-US" sz="1100" b="1" dirty="0">
                <a:solidFill>
                  <a:srgbClr val="FFFFFF"/>
                </a:solidFill>
              </a:rPr>
              <a:t>Align resources and execution with key insights and strategic recommendations by Q4 2023.</a:t>
            </a:r>
            <a:endParaRPr lang="en-US" sz="1100" dirty="0"/>
          </a:p>
        </p:txBody>
      </p:sp>
      <p:sp>
        <p:nvSpPr>
          <p:cNvPr id="11" name="Text 9"/>
          <p:cNvSpPr/>
          <p:nvPr/>
        </p:nvSpPr>
        <p:spPr>
          <a:xfrm>
            <a:off x="457200" y="4041648"/>
            <a:ext cx="8229600" cy="320040"/>
          </a:xfrm>
          <a:prstGeom prst="rect">
            <a:avLst/>
          </a:prstGeom>
          <a:noFill/>
          <a:ln/>
        </p:spPr>
        <p:txBody>
          <a:bodyPr wrap="square" rtlCol="0" anchor="ctr"/>
          <a:lstStyle/>
          <a:p>
            <a:pPr algn="ctr" indent="0" marL="0">
              <a:buNone/>
            </a:pPr>
            <a:r>
              <a:rPr lang="en-US" sz="900" dirty="0">
                <a:solidFill>
                  <a:srgbClr val="94A3B8"/>
                </a:solidFill>
              </a:rPr>
              <a:t>Next milestone: Detailed implementation plan review by end of Q2 2024.</a:t>
            </a:r>
            <a:endParaRPr lang="en-US" sz="900" dirty="0"/>
          </a:p>
        </p:txBody>
      </p:sp>
      <p:sp>
        <p:nvSpPr>
          <p:cNvPr id="12" name="Shape 10"/>
          <p:cNvSpPr/>
          <p:nvPr/>
        </p:nvSpPr>
        <p:spPr>
          <a:xfrm>
            <a:off x="457200" y="4736592"/>
            <a:ext cx="8503920" cy="0"/>
          </a:xfrm>
          <a:prstGeom prst="line">
            <a:avLst/>
          </a:prstGeom>
          <a:noFill/>
          <a:ln w="12700">
            <a:solidFill>
              <a:srgbClr val="3B82F6">
                <a:alpha val="28000"/>
              </a:srgbClr>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Performo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Qatar Tourism 2026</dc:title>
  <dc:subject>PptxGenJS Presentation</dc:subject>
  <dc:creator>PptxGenJS</dc:creator>
  <cp:lastModifiedBy>PptxGenJS</cp:lastModifiedBy>
  <cp:revision>1</cp:revision>
  <dcterms:created xsi:type="dcterms:W3CDTF">2026-04-07T09:02:03Z</dcterms:created>
  <dcterms:modified xsi:type="dcterms:W3CDTF">2026-04-07T09:02:03Z</dcterms:modified>
</cp:coreProperties>
</file>